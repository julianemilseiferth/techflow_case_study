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050166" y="-763859"/>
            <a:ext cx="4002198" cy="4002197"/>
          </a:xfrm>
          <a:prstGeom prst="roundRect">
            <a:avLst>
              <a:gd name="adj" fmla="val 114237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80091" y="7999384"/>
            <a:ext cx="2858712" cy="2858713"/>
          </a:xfrm>
          <a:prstGeom prst="roundRect">
            <a:avLst>
              <a:gd name="adj" fmla="val 159932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927106" y="4319026"/>
            <a:ext cx="2096389" cy="2096389"/>
          </a:xfrm>
          <a:prstGeom prst="roundRect">
            <a:avLst>
              <a:gd name="adj" fmla="val 218089"/>
            </a:avLst>
          </a:prstGeom>
          <a:solidFill>
            <a:srgbClr val="FEF3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14850" y="4488511"/>
            <a:ext cx="94434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☎️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14850" y="5093494"/>
            <a:ext cx="9443466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Improving Customer Support Wait Times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14850" y="5650111"/>
            <a:ext cx="9443466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TechFlow Solutions Case Study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40736" y="-635025"/>
            <a:ext cx="3077881" cy="3077880"/>
          </a:xfrm>
          <a:prstGeom prst="roundRect">
            <a:avLst>
              <a:gd name="adj" fmla="val 148544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70484" y="8051967"/>
            <a:ext cx="2172621" cy="2172621"/>
          </a:xfrm>
          <a:prstGeom prst="roundRect">
            <a:avLst>
              <a:gd name="adj" fmla="val 210437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9107" y="4249943"/>
            <a:ext cx="897129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Business Problem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9107" y="4678981"/>
            <a:ext cx="897129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pain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4289107" y="5047435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calling during peak business hours face long waits, creating frustration, lost productivity, and reputational risk.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89107" y="5384218"/>
            <a:ext cx="897129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Management gap</a:t>
            </a:r>
            <a:endParaRPr lang="en-US" sz="1404" dirty="0"/>
          </a:p>
        </p:txBody>
      </p:sp>
      <p:sp>
        <p:nvSpPr>
          <p:cNvPr id="8" name="Text 6"/>
          <p:cNvSpPr/>
          <p:nvPr/>
        </p:nvSpPr>
        <p:spPr>
          <a:xfrm>
            <a:off x="4289107" y="5752672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Leaders suspect Monday and Friday demand spikes, but they lack structured historical data to justify staffing changes.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972173" y="-363447"/>
            <a:ext cx="2534724" cy="2534725"/>
          </a:xfrm>
          <a:prstGeom prst="roundRect">
            <a:avLst>
              <a:gd name="adj" fmla="val 180375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979" y="8142454"/>
            <a:ext cx="2172621" cy="2172621"/>
          </a:xfrm>
          <a:prstGeom prst="roundRect">
            <a:avLst>
              <a:gd name="adj" fmla="val 210437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9107" y="3382819"/>
            <a:ext cx="897129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and Method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9107" y="3811857"/>
            <a:ext cx="897129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🧪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89107" y="4171262"/>
            <a:ext cx="897129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Simulation</a:t>
            </a:r>
            <a:endParaRPr lang="en-US" sz="1404" dirty="0"/>
          </a:p>
        </p:txBody>
      </p:sp>
      <p:sp>
        <p:nvSpPr>
          <p:cNvPr id="7" name="Text 5"/>
          <p:cNvSpPr/>
          <p:nvPr/>
        </p:nvSpPr>
        <p:spPr>
          <a:xfrm>
            <a:off x="4289107" y="4539715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Generated 1,200 call records with Faker, random, NumPy, and datetime-based logic.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89107" y="4851897"/>
            <a:ext cx="897129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🗄️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89107" y="5211302"/>
            <a:ext cx="897129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Storage</a:t>
            </a:r>
            <a:endParaRPr lang="en-US" sz="1404" dirty="0"/>
          </a:p>
        </p:txBody>
      </p:sp>
      <p:sp>
        <p:nvSpPr>
          <p:cNvPr id="10" name="Text 8"/>
          <p:cNvSpPr/>
          <p:nvPr/>
        </p:nvSpPr>
        <p:spPr>
          <a:xfrm>
            <a:off x="4289107" y="5579756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Stored records in SQLite using SQLAlchemy for reproducible analysis and Streamlit display.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89107" y="5891938"/>
            <a:ext cx="897129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📊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9107" y="6251343"/>
            <a:ext cx="897129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Outputs</a:t>
            </a:r>
            <a:endParaRPr lang="en-US" sz="1404" dirty="0"/>
          </a:p>
        </p:txBody>
      </p:sp>
      <p:sp>
        <p:nvSpPr>
          <p:cNvPr id="13" name="Text 11"/>
          <p:cNvSpPr/>
          <p:nvPr/>
        </p:nvSpPr>
        <p:spPr>
          <a:xfrm>
            <a:off x="4289107" y="6619797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Exported CSV data and built a dashboard to inspect day-level and hour-level support patterns.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840699" y="-725551"/>
            <a:ext cx="3258931" cy="3258932"/>
          </a:xfrm>
          <a:prstGeom prst="roundRect">
            <a:avLst>
              <a:gd name="adj" fmla="val 140291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61010" y="7961441"/>
            <a:ext cx="2353673" cy="2353674"/>
          </a:xfrm>
          <a:prstGeom prst="roundRect">
            <a:avLst>
              <a:gd name="adj" fmla="val 194250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9107" y="5815024"/>
            <a:ext cx="8795385" cy="162877"/>
          </a:xfrm>
          <a:prstGeom prst="roundRect">
            <a:avLst>
              <a:gd name="adj" fmla="val 56084383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9107" y="6145303"/>
            <a:ext cx="8795385" cy="162878"/>
          </a:xfrm>
          <a:prstGeom prst="roundRect">
            <a:avLst>
              <a:gd name="adj" fmla="val 56084038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89107" y="6475582"/>
            <a:ext cx="8795385" cy="162878"/>
          </a:xfrm>
          <a:prstGeom prst="roundRect">
            <a:avLst>
              <a:gd name="adj" fmla="val 56084038"/>
            </a:avLst>
          </a:prstGeom>
          <a:solidFill>
            <a:srgbClr val="FFFFFF">
              <a:alpha val="8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89107" y="3676338"/>
            <a:ext cx="897129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Findings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89107" y="4105375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89107" y="4272777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Avg wait minutes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89107" y="4440179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Monday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89107" y="4607581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Longest average wait day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89107" y="4774983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1,200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89107" y="4942385"/>
            <a:ext cx="8971292" cy="1674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Calls analyzed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89107" y="5279168"/>
            <a:ext cx="897129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Busiest hours</a:t>
            </a:r>
            <a:endParaRPr lang="en-US" sz="1404" dirty="0"/>
          </a:p>
        </p:txBody>
      </p:sp>
      <p:sp>
        <p:nvSpPr>
          <p:cNvPr id="15" name="Text 13"/>
          <p:cNvSpPr/>
          <p:nvPr/>
        </p:nvSpPr>
        <p:spPr>
          <a:xfrm>
            <a:off x="4289107" y="5647622"/>
            <a:ext cx="287420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0891" y="5647622"/>
            <a:ext cx="50071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64 calls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89107" y="5977901"/>
            <a:ext cx="369550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14:00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51411" y="5977901"/>
            <a:ext cx="50071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61 calls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89107" y="6308181"/>
            <a:ext cx="369550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21:00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51411" y="6308181"/>
            <a:ext cx="50071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60 calls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112237" y="-634987"/>
            <a:ext cx="2896829" cy="2896829"/>
          </a:xfrm>
          <a:prstGeom prst="roundRect">
            <a:avLst>
              <a:gd name="adj" fmla="val 157828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270484" y="7961479"/>
            <a:ext cx="2172621" cy="2172621"/>
          </a:xfrm>
          <a:prstGeom prst="roundRect">
            <a:avLst>
              <a:gd name="adj" fmla="val 210437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9107" y="4166242"/>
            <a:ext cx="897129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Recommendation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289107" y="4595280"/>
            <a:ext cx="8971292" cy="19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Staffing action</a:t>
            </a:r>
            <a:endParaRPr lang="en-US" sz="1404" dirty="0"/>
          </a:p>
        </p:txBody>
      </p:sp>
      <p:sp>
        <p:nvSpPr>
          <p:cNvPr id="6" name="Text 4"/>
          <p:cNvSpPr/>
          <p:nvPr/>
        </p:nvSpPr>
        <p:spPr>
          <a:xfrm>
            <a:off x="4289107" y="4963734"/>
            <a:ext cx="8795385" cy="334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Increase support staffing by about 40% on Monday and Friday from 1 PM to 5 PM, then add lighter coverage around the other busiest hours.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89107" y="5467919"/>
            <a:ext cx="8971292" cy="199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4"/>
              </a:lnSpc>
              <a:buNone/>
            </a:pPr>
            <a:r>
              <a:rPr lang="en-US" sz="1404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Operational support</a:t>
            </a:r>
            <a:endParaRPr lang="en-US" sz="1404" dirty="0"/>
          </a:p>
        </p:txBody>
      </p:sp>
      <p:sp>
        <p:nvSpPr>
          <p:cNvPr id="8" name="Text 6"/>
          <p:cNvSpPr/>
          <p:nvPr/>
        </p:nvSpPr>
        <p:spPr>
          <a:xfrm>
            <a:off x="4289107" y="5836373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callback options, self-service billing/account resources, and live monitoring so spikes can be handled before queues grow too long.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97658" y="-725666"/>
            <a:ext cx="3802088" cy="3802087"/>
          </a:xfrm>
          <a:prstGeom prst="roundRect">
            <a:avLst>
              <a:gd name="adj" fmla="val 120250"/>
            </a:avLst>
          </a:prstGeom>
          <a:solidFill>
            <a:srgbClr val="F9731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361086" y="7599415"/>
            <a:ext cx="2715777" cy="2715777"/>
          </a:xfrm>
          <a:prstGeom prst="roundRect">
            <a:avLst>
              <a:gd name="adj" fmla="val 168350"/>
            </a:avLst>
          </a:prstGeom>
          <a:solidFill>
            <a:srgbClr val="14B8A6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80751" y="4103074"/>
            <a:ext cx="1991569" cy="1991570"/>
          </a:xfrm>
          <a:prstGeom prst="roundRect">
            <a:avLst>
              <a:gd name="adj" fmla="val 229568"/>
            </a:avLst>
          </a:prstGeom>
          <a:solidFill>
            <a:srgbClr val="FEF3C7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289107" y="4320853"/>
            <a:ext cx="8971292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89107" y="4881800"/>
            <a:ext cx="8971292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Data-Driven Staffing Can Cut Wait Times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89107" y="5310839"/>
            <a:ext cx="8971292" cy="167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FAFAF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TechFlow Solutions management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2026-05-18T14:11:47Z</dcterms:created>
  <dcterms:modified xsi:type="dcterms:W3CDTF">2026-05-18T14:11:47Z</dcterms:modified>
</cp:coreProperties>
</file>